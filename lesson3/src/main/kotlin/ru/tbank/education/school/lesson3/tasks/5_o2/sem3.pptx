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sldIdLst>
    <p:sldId id="835" r:id="rId2"/>
    <p:sldId id="837" r:id="rId3"/>
    <p:sldId id="843" r:id="rId4"/>
    <p:sldId id="844" r:id="rId5"/>
    <p:sldId id="845" r:id="rId6"/>
    <p:sldId id="836" r:id="rId7"/>
    <p:sldId id="841" r:id="rId8"/>
    <p:sldId id="842" r:id="rId9"/>
    <p:sldId id="846" r:id="rId10"/>
  </p:sldIdLst>
  <p:sldSz cx="19799300" cy="11160125"/>
  <p:notesSz cx="19799300" cy="11160125"/>
  <p:embeddedFontLst>
    <p:embeddedFont>
      <p:font typeface="Tinkoff Sans" panose="02000806050000020004" pitchFamily="2" charset="0"/>
      <p:regular r:id="rId12"/>
      <p:bold r:id="rId13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43"/>
            <p14:sldId id="844"/>
            <p14:sldId id="845"/>
            <p14:sldId id="836"/>
            <p14:sldId id="841"/>
            <p14:sldId id="842"/>
            <p14:sldId id="846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8"/>
    <p:restoredTop sz="94724"/>
  </p:normalViewPr>
  <p:slideViewPr>
    <p:cSldViewPr snapToGrid="0" snapToObjects="1" showGuides="1">
      <p:cViewPr varScale="1">
        <p:scale>
          <a:sx n="59" d="100"/>
          <a:sy n="59" d="100"/>
        </p:scale>
        <p:origin x="248" y="256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AFDF-135D-93B9-542D-57AC9A948F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DEFECFF-16C9-6D25-26C8-7E66B7D96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F4EC684-3D4F-FF96-49E8-19959C6C68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938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C859-8342-60F8-D195-F18A2CAD08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20D092C2-0080-4C3A-6F1B-34C5AA83A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0D06D6BF-0F2D-D433-304B-1214A8EA67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817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E1E3-8288-F532-30CA-056855C93D4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E50EB8BC-EB17-7A38-78CF-DC20412A0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957744E2-ED0F-0E50-208A-E68B0E5099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Слайд </a:t>
            </a:r>
            <a:r>
              <a:rPr lang="ru-RU"/>
              <a:t>текст+картинка</a:t>
            </a:r>
            <a:endParaRPr/>
          </a:p>
          <a:p>
            <a:pPr>
              <a:defRPr/>
            </a:pPr>
            <a:r>
              <a:rPr lang="ru-RU" dirty="0"/>
              <a:t>Нажмите на заполнитель с картинкой и подгрузите ваше изображение</a:t>
            </a:r>
            <a:endParaRPr dirty="0"/>
          </a:p>
          <a:p>
            <a:pPr>
              <a:defRPr/>
            </a:pPr>
            <a:r>
              <a:rPr lang="ru-RU" dirty="0"/>
              <a:t>При необходимости подвижные элементы можно перемешать</a:t>
            </a:r>
            <a:r>
              <a:rPr lang="en-US" dirty="0"/>
              <a:t> </a:t>
            </a:r>
            <a:r>
              <a:rPr lang="ru-RU" dirty="0"/>
              <a:t>или дублировать/копировать</a:t>
            </a:r>
            <a:endParaRPr dirty="0"/>
          </a:p>
          <a:p>
            <a:pPr>
              <a:defRPr/>
            </a:pPr>
            <a:r>
              <a:rPr lang="ru-RU" dirty="0"/>
              <a:t>Ссылка на библиотеку картинок на слайде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963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EC83-D75D-5E0C-9526-FBCC789E8B1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7A7F8A7-2D6C-8D84-3EAC-C3276D5FE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12E74146-A96C-C5D6-808B-88730977C6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266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266920" y="305555"/>
            <a:ext cx="9466359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открытости</a:t>
            </a:r>
            <a:r>
              <a:rPr lang="en-US" sz="6000" b="1" dirty="0"/>
              <a:t>/</a:t>
            </a:r>
            <a:r>
              <a:rPr lang="ru-RU" sz="6000" b="1" dirty="0"/>
              <a:t>закрытости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38035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Open closed –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класс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закрыт для модификации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- уже написанный и протестированный код мы не трогаем.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То есть мы не залазим внутрь класса, не редактируем его файл.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но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открыт для расширения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- мы можем добавить новое поведение,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но через новые классы / новые реализации интерфейсов, а не через правки старого.</a:t>
            </a:r>
            <a:endParaRPr lang="en-US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6633688" y="4376368"/>
            <a:ext cx="12873512" cy="62386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Это сотрудник Т-Банка</a:t>
            </a:r>
            <a:r>
              <a:rPr lang="en-US" dirty="0"/>
              <a:t>, </a:t>
            </a:r>
            <a:r>
              <a:rPr lang="ru-RU" dirty="0"/>
              <a:t>который отправляет денежные отчеты</a:t>
            </a:r>
            <a:endParaRPr lang="en-US" dirty="0"/>
          </a:p>
          <a:p>
            <a:r>
              <a:rPr lang="ru-RU" dirty="0"/>
              <a:t>На основе одних и тех же данных нужно делать разные отчёты:</a:t>
            </a:r>
          </a:p>
          <a:p>
            <a:r>
              <a:rPr lang="ru-RU" b="1" dirty="0"/>
              <a:t>Для руководителей</a:t>
            </a:r>
            <a:r>
              <a:rPr lang="ru-RU" dirty="0"/>
              <a:t> – собрать все данные по всей прибыли за месяц.</a:t>
            </a:r>
          </a:p>
          <a:p>
            <a:r>
              <a:rPr lang="ru-RU" b="1" dirty="0"/>
              <a:t>Для разработчиков</a:t>
            </a:r>
            <a:r>
              <a:rPr lang="ru-RU" dirty="0"/>
              <a:t> – собрать данные по тому</a:t>
            </a:r>
            <a:r>
              <a:rPr lang="en-US" dirty="0"/>
              <a:t>, </a:t>
            </a:r>
            <a:r>
              <a:rPr lang="ru-RU" dirty="0"/>
              <a:t>сколько денег было потеряно из-за сбоев.</a:t>
            </a:r>
          </a:p>
          <a:p>
            <a:r>
              <a:rPr lang="ru-RU" b="1" dirty="0"/>
              <a:t>Для продуктов</a:t>
            </a:r>
            <a:r>
              <a:rPr lang="ru-RU" dirty="0"/>
              <a:t> – собрать данные по тому</a:t>
            </a:r>
            <a:r>
              <a:rPr lang="en-US" dirty="0"/>
              <a:t>, </a:t>
            </a:r>
            <a:r>
              <a:rPr lang="ru-RU" dirty="0"/>
              <a:t>сколько принес прибыли каждый проект.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5E686866-2EFF-6EA6-7F99-79EF1794E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13AA966-BF90-287B-2D6E-FD030A1C29E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EA5051F9-E880-7743-DC23-FABA5297922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D71E0178-5BA2-3525-0491-7DD9B1B8117E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9B81C87A-C5DB-6484-453C-EFABD635A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1AA41-BB22-DDC6-F75B-4DAD5F43B61E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5DDFD-1998-8FC3-F83E-78EBC4A5B242}"/>
              </a:ext>
            </a:extLst>
          </p:cNvPr>
          <p:cNvSpPr txBox="1"/>
          <p:nvPr/>
        </p:nvSpPr>
        <p:spPr bwMode="auto">
          <a:xfrm>
            <a:off x="6633688" y="4376368"/>
            <a:ext cx="12873512" cy="32162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Сегодня этих отчётов три. Завтра попросят:</a:t>
            </a:r>
          </a:p>
          <a:p>
            <a:r>
              <a:rPr lang="ru-RU" dirty="0"/>
              <a:t>отчёт </a:t>
            </a:r>
            <a:r>
              <a:rPr lang="ru-RU" b="1" dirty="0"/>
              <a:t>для аналитиков</a:t>
            </a:r>
            <a:r>
              <a:rPr lang="ru-RU" dirty="0"/>
              <a:t> (прибыль по дням),</a:t>
            </a:r>
          </a:p>
          <a:p>
            <a:r>
              <a:rPr lang="ru-RU" dirty="0"/>
              <a:t>отчёт </a:t>
            </a:r>
            <a:r>
              <a:rPr lang="ru-RU" b="1" dirty="0"/>
              <a:t>для других разработчиков</a:t>
            </a:r>
            <a:r>
              <a:rPr lang="ru-RU" dirty="0"/>
              <a:t> (сколько принес каждый сервис).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9A45064F-811F-3F38-6A00-32C6356A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13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C5F9E7-9E0B-C4FC-A917-5C98D604B70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D5917896-21DD-AD11-AC05-35084428CD2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D995A30E-CF8B-2609-308F-9C1D50EE7CD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61057467-BBE7-ABE3-C2A2-A055B316C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373D3-9BE6-9C1A-C947-29AA9A0AB199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0FE20-6D61-AC22-B7CB-8CF1EC08EF24}"/>
              </a:ext>
            </a:extLst>
          </p:cNvPr>
          <p:cNvSpPr txBox="1"/>
          <p:nvPr/>
        </p:nvSpPr>
        <p:spPr bwMode="auto">
          <a:xfrm>
            <a:off x="6633688" y="4376368"/>
            <a:ext cx="12873512" cy="4496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В итоге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Каждый раз приходим к одному бедному сотруднику и добавляем правила формирования нового отчета</a:t>
            </a:r>
          </a:p>
          <a:p>
            <a:r>
              <a:rPr lang="ru-RU" dirty="0"/>
              <a:t>Со временем на столе сотрудника появится огромная стопка бумаг с правилами формирования для каждого типа отчет и будет очень грустно(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06C74982-3D74-8EB5-2BB8-E17986A98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стопка бумаг на прозрачном фоне 25 фото">
            <a:extLst>
              <a:ext uri="{FF2B5EF4-FFF2-40B4-BE49-F238E27FC236}">
                <a16:creationId xmlns:a16="http://schemas.microsoft.com/office/drawing/2014/main" id="{1EA3B67F-FEFB-577D-0626-AD59E92B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7888" y="365020"/>
            <a:ext cx="3847223" cy="470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68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DF2760-6473-2E0D-312D-4B1B53DF253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9B881A78-0913-043A-CA1A-17BC4BD2915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563E3D8-3DE9-6141-9527-9A6801F2D17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0067EA40-48DE-88D3-4C9C-4487AD016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72E00-9A74-5D89-2F0B-E0B66EB22950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BB20D-1349-0027-79B9-5D9E9977C57F}"/>
              </a:ext>
            </a:extLst>
          </p:cNvPr>
          <p:cNvSpPr txBox="1"/>
          <p:nvPr/>
        </p:nvSpPr>
        <p:spPr bwMode="auto">
          <a:xfrm>
            <a:off x="6633688" y="4376368"/>
            <a:ext cx="12873512" cy="687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Как </a:t>
            </a:r>
            <a:r>
              <a:rPr lang="ru-RU" b="1" dirty="0" err="1"/>
              <a:t>фиксить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Например отдельные сотрудники</a:t>
            </a:r>
            <a:br>
              <a:rPr lang="ru-RU" dirty="0"/>
            </a:br>
            <a:r>
              <a:rPr lang="ru-RU" dirty="0"/>
              <a:t>Или можно задать единый шаблон с полями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Месяц</a:t>
            </a:r>
          </a:p>
          <a:p>
            <a:pPr marL="514350" indent="-514350">
              <a:buAutoNum type="arabicPeriod"/>
            </a:pPr>
            <a:r>
              <a:rPr lang="ru-RU" dirty="0"/>
              <a:t>Список операций в формате день-прибыль</a:t>
            </a:r>
          </a:p>
          <a:p>
            <a:r>
              <a:rPr lang="ru-RU" dirty="0"/>
              <a:t>Если кому-то нужны дополнительные поля (например сумма за весь период)</a:t>
            </a:r>
            <a:r>
              <a:rPr lang="en-US" dirty="0"/>
              <a:t>, </a:t>
            </a:r>
            <a:r>
              <a:rPr lang="ru-RU" dirty="0"/>
              <a:t>то можем сначала сформировать отчет по шаблону</a:t>
            </a:r>
            <a:r>
              <a:rPr lang="en-US" dirty="0"/>
              <a:t>, </a:t>
            </a:r>
            <a:r>
              <a:rPr lang="ru-RU" dirty="0"/>
              <a:t>а потом просто 1 поле дописать</a:t>
            </a:r>
          </a:p>
          <a:p>
            <a:endParaRPr lang="ru-RU" dirty="0"/>
          </a:p>
        </p:txBody>
      </p:sp>
      <p:pic>
        <p:nvPicPr>
          <p:cNvPr id="1026" name="Picture 2" descr="Векторы на тему «Бухгалтер» — скачивайте бесплатные векторы высокого  качества на Freepik | Freepik">
            <a:extLst>
              <a:ext uri="{FF2B5EF4-FFF2-40B4-BE49-F238E27FC236}">
                <a16:creationId xmlns:a16="http://schemas.microsoft.com/office/drawing/2014/main" id="{F3C8603F-76EA-940F-BAE6-4D89F0DED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" y="3852069"/>
            <a:ext cx="5545215" cy="55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1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327155" y="529075"/>
            <a:ext cx="8545363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en-US" sz="6000" b="1" dirty="0"/>
              <a:t>Open Closed Principle</a:t>
            </a:r>
          </a:p>
          <a:p>
            <a:pPr>
              <a:defRPr/>
            </a:pPr>
            <a:r>
              <a:rPr lang="ru-RU" sz="4000" b="1" dirty="0"/>
              <a:t>Условие</a:t>
            </a:r>
            <a:endParaRPr sz="4000"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E1BC4-0EB0-61AF-9A3C-842FB8C3A3B3}"/>
              </a:ext>
            </a:extLst>
          </p:cNvPr>
          <p:cNvSpPr txBox="1"/>
          <p:nvPr/>
        </p:nvSpPr>
        <p:spPr bwMode="auto">
          <a:xfrm>
            <a:off x="6436174" y="5580062"/>
            <a:ext cx="11102340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скрин и рассказываем что вам дано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94BA1E-217B-46E4-1DD3-AE8A11E0C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778" y="3333292"/>
            <a:ext cx="12123964" cy="719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D993-7497-618A-CDCB-0C66BC03DBE5}"/>
              </a:ext>
            </a:extLst>
          </p:cNvPr>
          <p:cNvSpPr txBox="1"/>
          <p:nvPr/>
        </p:nvSpPr>
        <p:spPr bwMode="auto">
          <a:xfrm>
            <a:off x="10965943" y="3815703"/>
            <a:ext cx="8308122" cy="29854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Проблемные места</a:t>
            </a:r>
            <a:r>
              <a:rPr lang="en-US" b="1" dirty="0"/>
              <a:t>: </a:t>
            </a:r>
          </a:p>
          <a:p>
            <a:pPr marL="514350" indent="-514350">
              <a:buAutoNum type="arabicPeriod"/>
            </a:pPr>
            <a:r>
              <a:rPr lang="ru-RU" b="1" dirty="0"/>
              <a:t>Возможны только 3 вида отправки</a:t>
            </a:r>
          </a:p>
          <a:p>
            <a:pPr marL="514350" indent="-514350">
              <a:buAutoNum type="arabicPeriod"/>
            </a:pPr>
            <a:r>
              <a:rPr lang="ru-RU" b="1" dirty="0"/>
              <a:t>Нельзя добавить другие виды без изменения внутренности класса</a:t>
            </a:r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DD141F-C767-DBCD-3160-93F6DD2C9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235" y="3815703"/>
            <a:ext cx="9891409" cy="587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9" name="Рисунок 8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A98BB8-11F6-7E58-8EE3-4EE87E1AB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373" y="414341"/>
            <a:ext cx="11500409" cy="996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583388-8A2A-4985-AC51-0EA8B2916F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AA3E176C-8E70-62CE-38AC-926256F59C59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E408C6F0-C712-A174-CA18-54CD07ECD1A6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CDCAE6C-86AD-CA26-C5A4-077A1EDC6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F942E-3C99-97E9-BB07-BEE5478C2988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DAF87E-03D8-2E13-9F0E-88CE3D831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5" y="422264"/>
            <a:ext cx="13093245" cy="1032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3899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</TotalTime>
  <Words>550</Words>
  <Application>Microsoft Macintosh PowerPoint</Application>
  <DocSecurity>0</DocSecurity>
  <PresentationFormat>Произвольный</PresentationFormat>
  <Paragraphs>76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Tinkoff Sans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Alexandra Romanova</cp:lastModifiedBy>
  <cp:revision>693</cp:revision>
  <dcterms:modified xsi:type="dcterms:W3CDTF">2025-11-20T09:16:51Z</dcterms:modified>
  <cp:category/>
  <dc:identifier/>
  <cp:contentStatus/>
  <dc:language/>
  <cp:version/>
</cp:coreProperties>
</file>